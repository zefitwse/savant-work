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</p:sldMasterIdLst>
  <p:notesMasterIdLst>
    <p:notesMasterId r:id="rId28"/>
  </p:notesMasterIdLst>
  <p:sldIdLst>
    <p:sldId id="266" r:id="rId27"/>
    <p:sldId id="282" r:id="rId29"/>
    <p:sldId id="288" r:id="rId30"/>
    <p:sldId id="289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310" r:id="rId39"/>
    <p:sldId id="316" r:id="rId40"/>
    <p:sldId id="304" r:id="rId41"/>
    <p:sldId id="269" r:id="rId42"/>
    <p:sldId id="270" r:id="rId43"/>
    <p:sldId id="271" r:id="rId44"/>
    <p:sldId id="272" r:id="rId45"/>
    <p:sldId id="273" r:id="rId46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742950" lvl="1" indent="-28575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143000" lvl="2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00200" lvl="3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057400" lvl="4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34" y="114"/>
      </p:cViewPr>
      <p:guideLst>
        <p:guide orient="horz" pos="2166"/>
        <p:guide pos="292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19.xml"/><Relationship Id="rId45" Type="http://schemas.openxmlformats.org/officeDocument/2006/relationships/slide" Target="slides/slide18.xml"/><Relationship Id="rId44" Type="http://schemas.openxmlformats.org/officeDocument/2006/relationships/slide" Target="slides/slide17.xml"/><Relationship Id="rId43" Type="http://schemas.openxmlformats.org/officeDocument/2006/relationships/slide" Target="slides/slide16.xml"/><Relationship Id="rId42" Type="http://schemas.openxmlformats.org/officeDocument/2006/relationships/slide" Target="slides/slide15.xml"/><Relationship Id="rId41" Type="http://schemas.openxmlformats.org/officeDocument/2006/relationships/slide" Target="slides/slide14.xml"/><Relationship Id="rId40" Type="http://schemas.openxmlformats.org/officeDocument/2006/relationships/slide" Target="slides/slide1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2.xml"/><Relationship Id="rId38" Type="http://schemas.openxmlformats.org/officeDocument/2006/relationships/slide" Target="slides/slide11.xml"/><Relationship Id="rId37" Type="http://schemas.openxmlformats.org/officeDocument/2006/relationships/slide" Target="slides/slide10.xml"/><Relationship Id="rId36" Type="http://schemas.openxmlformats.org/officeDocument/2006/relationships/slide" Target="slides/slide9.xml"/><Relationship Id="rId35" Type="http://schemas.openxmlformats.org/officeDocument/2006/relationships/slide" Target="slides/slide8.xml"/><Relationship Id="rId34" Type="http://schemas.openxmlformats.org/officeDocument/2006/relationships/slide" Target="slides/slide7.xml"/><Relationship Id="rId33" Type="http://schemas.openxmlformats.org/officeDocument/2006/relationships/slide" Target="slides/slide6.xml"/><Relationship Id="rId32" Type="http://schemas.openxmlformats.org/officeDocument/2006/relationships/slide" Target="slides/slide5.xml"/><Relationship Id="rId31" Type="http://schemas.openxmlformats.org/officeDocument/2006/relationships/slide" Target="slides/slide4.xml"/><Relationship Id="rId30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1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/>
            <a:endParaRPr lang="zh-CN" altLang="en-US" dirty="0"/>
          </a:p>
        </p:txBody>
      </p:sp>
      <p:sp>
        <p:nvSpPr>
          <p:cNvPr id="28675" name="Text Box 2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zh-CN" altLang="en-US" dirty="0"/>
          </a:p>
        </p:txBody>
      </p:sp>
      <p:sp>
        <p:nvSpPr>
          <p:cNvPr id="28676" name="Text Box 3"/>
          <p:cNvSpPr txBox="1"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zh-CN" altLang="en-US" dirty="0"/>
          </a:p>
        </p:txBody>
      </p:sp>
      <p:sp>
        <p:nvSpPr>
          <p:cNvPr id="28677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/>
          <a:p>
            <a:pPr lvl="0"/>
            <a:endParaRPr lang="zh-CN" altLang="zh-CN" dirty="0"/>
          </a:p>
        </p:txBody>
      </p:sp>
      <p:sp>
        <p:nvSpPr>
          <p:cNvPr id="28679" name="Text Box 6"/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zh-CN" alt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4E184AD-A559-4688-9CC6-513096E9211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1203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4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1205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 algn="l"/>
            <a:r>
              <a:rPr lang="zh-CN" altLang="zh-CN" dirty="0">
                <a:ea typeface="等线" panose="02010600030101010101" charset="-122"/>
              </a:rPr>
              <a:t>完全替代ThingsBoard</a:t>
            </a:r>
            <a:endParaRPr lang="zh-CN" altLang="zh-CN" dirty="0">
              <a:ea typeface="等线" panose="02010600030101010101" charset="-122"/>
            </a:endParaRPr>
          </a:p>
          <a:p>
            <a:pPr lvl="0" algn="l"/>
            <a:endParaRPr lang="zh-CN" altLang="zh-CN" dirty="0">
              <a:ea typeface="等线" panose="02010600030101010101" charset="-122"/>
            </a:endParaRPr>
          </a:p>
          <a:p>
            <a:pPr lvl="0" algn="l"/>
            <a:r>
              <a:rPr lang="zh-CN" altLang="zh-CN" dirty="0">
                <a:ea typeface="等线" panose="02010600030101010101" charset="-122"/>
              </a:rPr>
              <a:t>用：</a:t>
            </a:r>
            <a:endParaRPr lang="zh-CN" altLang="zh-CN" dirty="0">
              <a:ea typeface="等线" panose="02010600030101010101" charset="-122"/>
            </a:endParaRPr>
          </a:p>
          <a:p>
            <a:pPr lvl="0" algn="l"/>
            <a:endParaRPr lang="zh-CN" altLang="zh-CN" dirty="0">
              <a:ea typeface="等线" panose="02010600030101010101" charset="-122"/>
            </a:endParaRPr>
          </a:p>
          <a:p>
            <a:pPr lvl="0" algn="l"/>
            <a:r>
              <a:rPr lang="zh-CN" altLang="zh-CN" dirty="0">
                <a:ea typeface="等线" panose="02010600030101010101" charset="-122"/>
              </a:rPr>
              <a:t>自研 Backend（Spring Boot / FastAPI）</a:t>
            </a:r>
            <a:endParaRPr lang="zh-CN" altLang="zh-CN" dirty="0">
              <a:ea typeface="等线" panose="02010600030101010101" charset="-122"/>
            </a:endParaRPr>
          </a:p>
          <a:p>
            <a:pPr lvl="0" algn="l"/>
            <a:r>
              <a:rPr lang="zh-CN" altLang="zh-CN" dirty="0">
                <a:ea typeface="等线" panose="02010600030101010101" charset="-122"/>
              </a:rPr>
              <a:t>自研 Dashboard</a:t>
            </a:r>
            <a:endParaRPr lang="zh-CN" altLang="zh-CN" dirty="0">
              <a:ea typeface="等线" panose="02010600030101010101" charset="-122"/>
            </a:endParaRPr>
          </a:p>
          <a:p>
            <a:pPr lvl="0" algn="l"/>
            <a:endParaRPr lang="zh-CN" altLang="zh-CN" dirty="0">
              <a:ea typeface="等线" panose="02010600030101010101" charset="-122"/>
            </a:endParaRPr>
          </a:p>
          <a:p>
            <a:pPr lvl="0" algn="l"/>
            <a:r>
              <a:rPr lang="zh-CN" altLang="zh-CN" dirty="0">
                <a:ea typeface="等线" panose="02010600030101010101" charset="-122"/>
              </a:rPr>
              <a:t>👉 👍 更灵活</a:t>
            </a:r>
            <a:endParaRPr lang="zh-CN" altLang="zh-CN" dirty="0">
              <a:ea typeface="等线" panose="02010600030101010101" charset="-122"/>
            </a:endParaRPr>
          </a:p>
          <a:p>
            <a:pPr lvl="0" algn="l"/>
            <a:r>
              <a:rPr lang="zh-CN" altLang="zh-CN" dirty="0">
                <a:ea typeface="等线" panose="02010600030101010101" charset="-122"/>
              </a:rPr>
              <a:t>👉 ❌ 成本高</a:t>
            </a:r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325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325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7347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8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 algn="l"/>
            <a:r>
              <a:rPr lang="zh-CN" altLang="zh-CN" dirty="0">
                <a:ea typeface="等线" panose="02010600030101010101" charset="-122"/>
              </a:rPr>
              <a:t>Kafka vs MQTT：如果摄像头超过 10 路，建议坚持使用 Kafka；如果只是家用或少量接入，MQTT 的运维成本更低</a:t>
            </a:r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7349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7347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8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7349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7347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8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7349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7347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8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7349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59395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9396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59397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61443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44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61445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63491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3492" name="Rectangle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none" lIns="90000" tIns="46800" rIns="90000" bIns="46800" anchor="ctr" anchorCtr="0"/>
          <a:lstStyle/>
          <a:p>
            <a:pPr lvl="0"/>
            <a:endParaRPr lang="zh-CN" altLang="zh-CN" dirty="0">
              <a:ea typeface="等线" panose="02010600030101010101" charset="-122"/>
            </a:endParaRPr>
          </a:p>
        </p:txBody>
      </p:sp>
      <p:sp>
        <p:nvSpPr>
          <p:cNvPr id="63493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6" charset="0"/>
                <a:ea typeface="Noto Serif CJK SC" panose="02020400000000000000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6" charset="0"/>
              <a:ea typeface="Noto Serif CJK SC" panose="02020400000000000000" charset="-122"/>
            </a:endParaRPr>
          </a:p>
        </p:txBody>
      </p:sp>
      <p:sp>
        <p:nvSpPr>
          <p:cNvPr id="65539" name="Rectangle 1"/>
          <p:cNvSpPr txBox="1"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5540" name="Text Box 2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0000" tIns="46800" rIns="90000" bIns="46800" anchor="t" anchorCtr="0"/>
          <a:lstStyle/>
          <a:p>
            <a:pPr lvl="0" defTabSz="449580">
              <a:spcBef>
                <a:spcPts val="465"/>
              </a:spcBef>
              <a:spcAft>
                <a:spcPts val="15"/>
              </a:spcAft>
              <a:buClrTx/>
              <a:buFontTx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latin typeface="隶书" panose="02010509060101010101" pitchFamily="49" charset="-122"/>
                <a:ea typeface="宋体" panose="02010600030101010101" pitchFamily="2" charset="-122"/>
              </a:rPr>
              <a:t>个人作业命名格式：学号</a:t>
            </a:r>
            <a:r>
              <a:rPr lang="en-US" altLang="zh-CN" b="1" dirty="0">
                <a:latin typeface="隶书" panose="02010509060101010101" pitchFamily="49" charset="-122"/>
                <a:ea typeface="宋体" panose="02010600030101010101" pitchFamily="2" charset="-122"/>
              </a:rPr>
              <a:t>-</a:t>
            </a:r>
            <a:r>
              <a:rPr lang="zh-CN" altLang="zh-CN" b="1" dirty="0">
                <a:latin typeface="隶书" panose="02010509060101010101" pitchFamily="49" charset="-122"/>
                <a:ea typeface="宋体" panose="02010600030101010101" pitchFamily="2" charset="-122"/>
              </a:rPr>
              <a:t>姓名</a:t>
            </a:r>
            <a:r>
              <a:rPr lang="en-US" altLang="zh-CN" b="1" dirty="0">
                <a:latin typeface="隶书" panose="02010509060101010101" pitchFamily="49" charset="-122"/>
                <a:ea typeface="宋体" panose="02010600030101010101" pitchFamily="2" charset="-122"/>
              </a:rPr>
              <a:t>.zip</a:t>
            </a:r>
            <a:r>
              <a:rPr lang="zh-CN" altLang="zh-CN" b="1" dirty="0">
                <a:latin typeface="隶书" panose="02010509060101010101" pitchFamily="49" charset="-122"/>
                <a:ea typeface="宋体" panose="02010600030101010101" pitchFamily="2" charset="-122"/>
              </a:rPr>
              <a:t>以组为单位，</a:t>
            </a:r>
            <a:endParaRPr lang="zh-CN" altLang="zh-CN" b="1" dirty="0">
              <a:latin typeface="隶书" panose="02010509060101010101" pitchFamily="49" charset="-122"/>
              <a:ea typeface="宋体" panose="02010600030101010101" pitchFamily="2" charset="-122"/>
            </a:endParaRPr>
          </a:p>
          <a:p>
            <a:pPr lvl="0" defTabSz="449580">
              <a:spcBef>
                <a:spcPts val="465"/>
              </a:spcBef>
              <a:spcAft>
                <a:spcPts val="15"/>
              </a:spcAft>
              <a:buClrTx/>
              <a:buFontTx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b="1" dirty="0">
              <a:latin typeface="隶书" panose="020105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65541" name="Text Box 3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zh-CN" altLang="zh-CN" sz="1200" dirty="0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zh-CN" altLang="zh-CN" sz="1200" dirty="0">
              <a:solidFill>
                <a:srgbClr val="000000"/>
              </a:solidFill>
              <a:latin typeface="Times New Roman" panose="02020603050405020304" pitchFamily="1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5613" y="1379538"/>
            <a:ext cx="3967162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5175" y="1379538"/>
            <a:ext cx="3968750" cy="453548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0" tIns="0" rIns="0" bIns="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1890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1450" y="409575"/>
            <a:ext cx="2022475" cy="5505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4025" y="409575"/>
            <a:ext cx="5915025" cy="5505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000" y="1719263"/>
            <a:ext cx="4125913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9313" y="1719263"/>
            <a:ext cx="4127500" cy="4405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355600"/>
            <a:ext cx="2100263" cy="5768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81000" y="355600"/>
            <a:ext cx="6153150" cy="576897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4" Type="http://schemas.openxmlformats.org/officeDocument/2006/relationships/theme" Target="../theme/theme10.xml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6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5" Type="http://schemas.openxmlformats.org/officeDocument/2006/relationships/theme" Target="../theme/theme13.xml"/><Relationship Id="rId14" Type="http://schemas.openxmlformats.org/officeDocument/2006/relationships/image" Target="../media/image7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4" Type="http://schemas.openxmlformats.org/officeDocument/2006/relationships/theme" Target="../theme/theme14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4" Type="http://schemas.openxmlformats.org/officeDocument/2006/relationships/theme" Target="../theme/theme15.xml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3" Type="http://schemas.openxmlformats.org/officeDocument/2006/relationships/theme" Target="../theme/theme16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3" Type="http://schemas.openxmlformats.org/officeDocument/2006/relationships/theme" Target="../theme/theme17.xml"/><Relationship Id="rId12" Type="http://schemas.openxmlformats.org/officeDocument/2006/relationships/image" Target="../media/image6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5" Type="http://schemas.openxmlformats.org/officeDocument/2006/relationships/theme" Target="../theme/theme18.xml"/><Relationship Id="rId14" Type="http://schemas.openxmlformats.org/officeDocument/2006/relationships/image" Target="../media/image7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4" Type="http://schemas.openxmlformats.org/officeDocument/2006/relationships/theme" Target="../theme/theme19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2" Type="http://schemas.openxmlformats.org/officeDocument/2006/relationships/theme" Target="../theme/theme20.xml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2" Type="http://schemas.openxmlformats.org/officeDocument/2006/relationships/theme" Target="../theme/theme21.xml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2" Type="http://schemas.openxmlformats.org/officeDocument/2006/relationships/theme" Target="../theme/theme22.xml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2" Type="http://schemas.openxmlformats.org/officeDocument/2006/relationships/theme" Target="../theme/theme23.xml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2" Type="http://schemas.openxmlformats.org/officeDocument/2006/relationships/theme" Target="../theme/theme24.xml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2" Type="http://schemas.openxmlformats.org/officeDocument/2006/relationships/theme" Target="../theme/theme25.xml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/>
          <p:nvPr/>
        </p:nvSpPr>
        <p:spPr>
          <a:xfrm>
            <a:off x="152400" y="1635125"/>
            <a:ext cx="8831263" cy="5045075"/>
          </a:xfrm>
          <a:prstGeom prst="rect">
            <a:avLst/>
          </a:prstGeom>
          <a:solidFill>
            <a:srgbClr val="F0E5B6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7" name="Rectangle 2"/>
          <p:cNvSpPr/>
          <p:nvPr/>
        </p:nvSpPr>
        <p:spPr>
          <a:xfrm>
            <a:off x="152400" y="152400"/>
            <a:ext cx="8813800" cy="1346200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029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1031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287390-9516-439F-BD43-9CEDDE1E9F0B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051" name="Rectangle 2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pic>
        <p:nvPicPr>
          <p:cNvPr id="2052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3075" name="Rectangle 2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/>
          <p:nvPr/>
        </p:nvSpPr>
        <p:spPr>
          <a:xfrm>
            <a:off x="152400" y="1635125"/>
            <a:ext cx="8831263" cy="5045075"/>
          </a:xfrm>
          <a:prstGeom prst="rect">
            <a:avLst/>
          </a:prstGeom>
          <a:solidFill>
            <a:srgbClr val="F0E5B6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/>
          <p:nvPr/>
        </p:nvSpPr>
        <p:spPr>
          <a:xfrm>
            <a:off x="152400" y="152400"/>
            <a:ext cx="8813800" cy="1346200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5125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5127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B01D5B-8955-4BA8-9DBD-DD94ECE4D8A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6149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CBFB84-6DD2-4D69-84D8-0A5DFA033975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6152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7173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59E0EF3-29F1-4F03-B7D7-3BDEB7387E2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7176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1" name="Rectangle 4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9222" name="Rectangle 5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9224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046AB8-A50D-4147-AF6A-BCBE9DDB7508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0245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10247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EF0E1E-9903-4FC8-A7F6-FB3F79A5C6F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F0E5B6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F0E5B6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F0E5B6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F0E5B6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F0E5B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/>
          <p:nvPr/>
        </p:nvSpPr>
        <p:spPr>
          <a:xfrm>
            <a:off x="152400" y="147638"/>
            <a:ext cx="6705600" cy="6556375"/>
          </a:xfrm>
          <a:prstGeom prst="rect">
            <a:avLst/>
          </a:prstGeom>
          <a:solidFill>
            <a:srgbClr val="F0E5B6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/>
          <p:nvPr/>
        </p:nvSpPr>
        <p:spPr>
          <a:xfrm>
            <a:off x="7010400" y="147638"/>
            <a:ext cx="1955800" cy="6556375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1269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11271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4A2FF6E-5F5B-4F87-9593-29E045F05222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0"/>
            <a:ext cx="4419600" cy="6334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1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3213" y="457200"/>
            <a:ext cx="839787" cy="55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969963" y="6643688"/>
            <a:ext cx="2890838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5387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CONFIDENTIAL, FOR INTERNAL USE ONLY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5387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5387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293" name="Rectangle 4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2294" name="Rectangle 5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9600"/>
            <a:ext cx="9144000" cy="4903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9600"/>
            <a:ext cx="9144000" cy="490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536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598613"/>
            <a:ext cx="9144000" cy="377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6" name="Rectangle 5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5367" name="Rectangle 6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7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389" name="Rectangle 4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6390" name="Rectangle 5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0" y="6477000"/>
            <a:ext cx="760413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>
                <a:solidFill>
                  <a:srgbClr val="0860A8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972E5E-7D89-47F9-917F-12B729CD32E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0"/>
            <a:ext cx="4419600" cy="6334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1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3213" y="457200"/>
            <a:ext cx="839787" cy="55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969963" y="6643688"/>
            <a:ext cx="2890838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5387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CONFIDENTIAL, FOR INTERNAL USE ONLY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5387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5387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413" name="Rectangle 4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7414" name="Rectangle 5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9600"/>
            <a:ext cx="9144000" cy="4903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9600"/>
            <a:ext cx="9144000" cy="490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048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598613"/>
            <a:ext cx="9144000" cy="377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6" name="Rectangle 5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0487" name="Rectangle 6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900" y="6191250"/>
            <a:ext cx="811213" cy="54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34125"/>
            <a:ext cx="9144000" cy="53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684713" y="6656388"/>
            <a:ext cx="289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49580" rtl="0" eaLnBrk="0" fontAlgn="base" latinLnBrk="0" hangingPunct="0">
              <a:lnSpc>
                <a:spcPct val="100000"/>
              </a:lnSpc>
              <a:spcBef>
                <a:spcPts val="5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o Sans Intel" charset="0"/>
                <a:ea typeface="宋体" panose="02010600030101010101" pitchFamily="2" charset="-122"/>
                <a:cs typeface="Arial" panose="020B0604020202020204" pitchFamily="34" charset="0"/>
              </a:rPr>
              <a:t>INTEL CONFIDENTIAL</a:t>
            </a:r>
            <a:endParaRPr kumimoji="0" lang="en-US" altLang="zh-CN" sz="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o Sans Intel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509" name="Rectangle 4"/>
          <p:cNvSpPr>
            <a:spLocks noGrp="1"/>
          </p:cNvSpPr>
          <p:nvPr>
            <p:ph type="title"/>
          </p:nvPr>
        </p:nvSpPr>
        <p:spPr>
          <a:xfrm>
            <a:off x="454025" y="409575"/>
            <a:ext cx="8089900" cy="8874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1510" name="Rectangle 5"/>
          <p:cNvSpPr>
            <a:spLocks noGrp="1"/>
          </p:cNvSpPr>
          <p:nvPr>
            <p:ph type="body" idx="1"/>
          </p:nvPr>
        </p:nvSpPr>
        <p:spPr>
          <a:xfrm>
            <a:off x="455613" y="1379538"/>
            <a:ext cx="8088312" cy="4535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0" y="6477000"/>
            <a:ext cx="760413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>
                <a:solidFill>
                  <a:srgbClr val="0860A8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FFBF8F-9A71-49D2-8004-39BD4B8B188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860A8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69C5"/>
          </a:solidFill>
          <a:latin typeface="+mj-lt"/>
          <a:ea typeface="+mj-ea"/>
          <a:cs typeface="+mj-cs"/>
        </a:defRPr>
      </a:lvl1pPr>
      <a:lvl2pPr marL="742950" indent="-28575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2pPr>
      <a:lvl3pPr marL="1143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3pPr>
      <a:lvl4pPr marL="1600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4pPr>
      <a:lvl5pPr marL="20574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lnSpc>
          <a:spcPts val="26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>
          <a:solidFill>
            <a:srgbClr val="0069C5"/>
          </a:solidFill>
          <a:latin typeface="Neo Sans Intel Medium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18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10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2533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0D11285-8226-4003-8DBF-AED84138852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2536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3557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97F57-D05D-4BF3-9E28-E34BCDB9BCB1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3560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/>
          <p:nvPr/>
        </p:nvSpPr>
        <p:spPr>
          <a:xfrm>
            <a:off x="152400" y="150813"/>
            <a:ext cx="8831263" cy="6556375"/>
          </a:xfrm>
          <a:prstGeom prst="rect">
            <a:avLst/>
          </a:prstGeom>
          <a:solidFill>
            <a:srgbClr val="F0E5B6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4582" name="Text Box 5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E30FC9C-05C9-4691-AAA8-0DA8B890FD80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89C540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solidFill>
            <a:srgbClr val="3B4F18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4" name="Rectangle 3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5" name="Rectangle 4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5606" name="Rectangle 5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5608" name="Text Box 7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FFFFF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551F02-DBF3-497F-BA00-F5AFA1796933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6629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6631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75588-2AED-4BF1-B8E5-AD8A24673A9F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000000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F0E5B6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F0E5B6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F0E5B6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F0E5B6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F0E5B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/>
          <p:nvPr/>
        </p:nvSpPr>
        <p:spPr>
          <a:xfrm>
            <a:off x="152400" y="147638"/>
            <a:ext cx="6705600" cy="6556375"/>
          </a:xfrm>
          <a:prstGeom prst="rect">
            <a:avLst/>
          </a:prstGeom>
          <a:solidFill>
            <a:srgbClr val="F0E5B6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/>
          <p:nvPr/>
        </p:nvSpPr>
        <p:spPr>
          <a:xfrm>
            <a:off x="7010400" y="147638"/>
            <a:ext cx="1955800" cy="6556375"/>
          </a:xfrm>
          <a:prstGeom prst="rect">
            <a:avLst/>
          </a:prstGeom>
          <a:solidFill>
            <a:srgbClr val="89C540"/>
          </a:solidFill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0413" cy="10525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zh-CN" dirty="0"/>
              <a:t>Click to edit the title text format</a:t>
            </a:r>
            <a:endParaRPr lang="en-GB" altLang="zh-CN" dirty="0"/>
          </a:p>
        </p:txBody>
      </p:sp>
      <p:sp>
        <p:nvSpPr>
          <p:cNvPr id="27653" name="Rectangle 4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5813" cy="44053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zh-CN" dirty="0"/>
              <a:t>Click to edit the outline text format</a:t>
            </a:r>
            <a:endParaRPr lang="en-GB" altLang="zh-CN" dirty="0"/>
          </a:p>
          <a:p>
            <a:pPr lvl="1"/>
            <a:r>
              <a:rPr lang="en-GB" altLang="zh-CN" dirty="0"/>
              <a:t>Second Outline Level</a:t>
            </a:r>
            <a:endParaRPr lang="en-GB" altLang="zh-CN" dirty="0"/>
          </a:p>
          <a:p>
            <a:pPr lvl="2"/>
            <a:r>
              <a:rPr lang="en-GB" altLang="zh-CN" dirty="0"/>
              <a:t>Third Outline Level</a:t>
            </a:r>
            <a:endParaRPr lang="en-GB" altLang="zh-CN" dirty="0"/>
          </a:p>
          <a:p>
            <a:pPr lvl="3"/>
            <a:r>
              <a:rPr lang="en-GB" altLang="zh-CN" dirty="0"/>
              <a:t>Fourth Outline Level</a:t>
            </a:r>
            <a:endParaRPr lang="en-GB" altLang="zh-CN" dirty="0"/>
          </a:p>
          <a:p>
            <a:pPr lvl="4"/>
            <a:r>
              <a:rPr lang="en-GB" altLang="zh-CN" dirty="0"/>
              <a:t>Fifth Outline Level</a:t>
            </a:r>
            <a:endParaRPr lang="en-GB" altLang="zh-CN" dirty="0"/>
          </a:p>
          <a:p>
            <a:pPr lvl="4"/>
            <a:r>
              <a:rPr lang="en-GB" altLang="zh-CN" dirty="0"/>
              <a:t>Sixth Outline Level</a:t>
            </a:r>
            <a:endParaRPr lang="en-GB" altLang="zh-CN" dirty="0"/>
          </a:p>
          <a:p>
            <a:pPr lvl="4"/>
            <a:r>
              <a:rPr lang="en-GB" altLang="zh-CN" dirty="0"/>
              <a:t>Seventh Outline Level</a:t>
            </a:r>
            <a:endParaRPr lang="en-GB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371475" y="6356350"/>
            <a:ext cx="2132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89C540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89C540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  <p:sp>
        <p:nvSpPr>
          <p:cNvPr id="27655" name="Text Box 6"/>
          <p:cNvSpPr txBox="1"/>
          <p:nvPr/>
        </p:nvSpPr>
        <p:spPr>
          <a:xfrm>
            <a:off x="3048000" y="6356350"/>
            <a:ext cx="335280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>
              <a:spcBef>
                <a:spcPts val="15"/>
              </a:spcBef>
              <a:spcAft>
                <a:spcPts val="15"/>
              </a:spcAft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8234363" y="6354763"/>
            <a:ext cx="5810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/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100">
                <a:solidFill>
                  <a:srgbClr val="F0E5B6"/>
                </a:solidFill>
                <a:latin typeface="Times New Roman" panose="02020603050405020304" pitchFamily="16" charset="0"/>
                <a:cs typeface="Noto Serif CJK SC" panose="02020400000000000000" charset="-122"/>
              </a:defRPr>
            </a:lvl1pPr>
          </a:lstStyle>
          <a:p>
            <a:pPr marL="0" marR="0" lvl="0" indent="0" algn="ctr" defTabSz="44958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CA578A-5B1E-4AA1-8BEE-A5519EAB3FCD}" type="slidenum">
              <a:rPr kumimoji="0" lang="zh-CN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0E5B6"/>
                </a:solidFill>
                <a:effectLst/>
                <a:uLnTx/>
                <a:uFillTx/>
                <a:latin typeface="Times New Roman" panose="02020603050405020304" pitchFamily="16" charset="0"/>
                <a:ea typeface="宋体" panose="02010600030101010101" pitchFamily="2" charset="-122"/>
                <a:cs typeface="Noto Serif CJK SC" panose="02020400000000000000" charset="-122"/>
              </a:rPr>
            </a:fld>
            <a:endParaRPr kumimoji="0" lang="zh-CN" altLang="zh-CN" sz="1100" b="0" i="0" u="none" strike="noStrike" kern="1200" cap="none" spc="0" normalizeH="0" baseline="0" noProof="0" smtClean="0">
              <a:ln>
                <a:noFill/>
              </a:ln>
              <a:solidFill>
                <a:srgbClr val="F0E5B6"/>
              </a:solidFill>
              <a:effectLst/>
              <a:uLnTx/>
              <a:uFillTx/>
              <a:latin typeface="Times New Roman" panose="02020603050405020304" pitchFamily="16" charset="0"/>
              <a:ea typeface="宋体" panose="02010600030101010101" pitchFamily="2" charset="-122"/>
              <a:cs typeface="Noto Serif CJK SC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sldNum="0" hdr="0" ftr="0" dt="0"/>
  <p:txStyles>
    <p:titleStyle>
      <a:lvl1pPr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2pPr>
      <a:lvl3pPr marL="1143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3pPr>
      <a:lvl4pPr marL="1600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4pPr>
      <a:lvl5pPr marL="20574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5pPr>
      <a:lvl6pPr marL="25146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6pPr>
      <a:lvl7pPr marL="29718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7pPr>
      <a:lvl8pPr marL="34290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8pPr>
      <a:lvl9pPr marL="3886200" indent="-228600" algn="ctr" defTabSz="449580" rtl="0" eaLnBrk="0" fontAlgn="base" hangingPunct="0"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FFFFFF"/>
          </a:solidFill>
          <a:latin typeface="Verdana" panose="020B0604030504040204" pitchFamily="32" charset="0"/>
          <a:ea typeface="微软雅黑" panose="020B0503020204020204" pitchFamily="32" charset="-122"/>
        </a:defRPr>
      </a:lvl9pPr>
    </p:titleStyle>
    <p:bodyStyle>
      <a:lvl1pPr marL="342900" indent="-342900" algn="l" defTabSz="449580" rtl="0" eaLnBrk="0" fontAlgn="base" hangingPunct="0">
        <a:spcBef>
          <a:spcPts val="5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000" kern="1200">
          <a:solidFill>
            <a:srgbClr val="89C54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2800" kern="1200">
          <a:solidFill>
            <a:srgbClr val="89C54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4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600" kern="1200">
          <a:solidFill>
            <a:srgbClr val="89C54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3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400" kern="1200">
          <a:solidFill>
            <a:srgbClr val="89C54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3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defRPr sz="1300" kern="1200">
          <a:solidFill>
            <a:srgbClr val="89C5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0.xml"/><Relationship Id="rId1" Type="http://schemas.openxmlformats.org/officeDocument/2006/relationships/hyperlink" Target="https://github.com/insight-platform/Savan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0179" name="Rectangle 2"/>
          <p:cNvSpPr/>
          <p:nvPr/>
        </p:nvSpPr>
        <p:spPr>
          <a:xfrm>
            <a:off x="323850" y="1916113"/>
            <a:ext cx="8496300" cy="427799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题目：</a:t>
            </a: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基于 </a:t>
            </a:r>
            <a:r>
              <a:rPr lang="en-US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Savant/DeepStream</a:t>
            </a: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的分布式实时视频智能分析系统</a:t>
            </a:r>
            <a:endParaRPr lang="zh-CN" altLang="zh-CN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algn="l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SzTx/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（</a:t>
            </a:r>
            <a:r>
              <a:rPr lang="zh-CN" altLang="en-US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hlinkClick r:id="rId1"/>
              </a:rPr>
              <a:t>https://github.com/insight-platform/Savant</a:t>
            </a:r>
            <a:r>
              <a:rPr lang="zh-CN" altLang="en-US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</a:t>
            </a:r>
            <a:endParaRPr lang="zh-CN" altLang="en-US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开发</a:t>
            </a:r>
            <a:r>
              <a:rPr lang="zh-CN" altLang="en-US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语言及开源工具</a:t>
            </a:r>
            <a:endParaRPr lang="zh-CN" altLang="en-US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python/Rust/C++/</a:t>
            </a:r>
            <a:r>
              <a:rPr lang="en-US" altLang="zh-CN" sz="2000" b="1" dirty="0" err="1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ZLMediaKit</a:t>
            </a:r>
            <a:r>
              <a:rPr lang="en-US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/</a:t>
            </a:r>
            <a:r>
              <a:rPr lang="en-US" altLang="zh-CN" sz="2000" b="1" dirty="0" err="1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kafka</a:t>
            </a:r>
            <a:r>
              <a:rPr lang="en-US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/Nginx/Frigate </a:t>
            </a:r>
            <a:r>
              <a:rPr lang="en-US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....</a:t>
            </a:r>
            <a:endParaRPr lang="en-US" altLang="zh-CN" sz="2000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检测任务（</a:t>
            </a:r>
            <a:r>
              <a:rPr lang="zh-CN" altLang="en-US" sz="2000" b="1" dirty="0" smtClean="0">
                <a:solidFill>
                  <a:srgbClr val="FF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可自选检测任务</a:t>
            </a:r>
            <a:r>
              <a:rPr lang="zh-CN" altLang="en-US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）：</a:t>
            </a:r>
            <a:endParaRPr lang="zh-CN" altLang="en-US" sz="2000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偏移（皮带/链条/曳引轮） </a:t>
            </a:r>
            <a:r>
              <a:rPr lang="en-US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=&gt; </a:t>
            </a:r>
            <a:r>
              <a:rPr lang="zh-CN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</a:t>
            </a: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检测 + 几何分析</a:t>
            </a:r>
            <a:endParaRPr lang="zh-CN" altLang="zh-CN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342900" indent="-34290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甩油（漏油） </a:t>
            </a:r>
            <a:r>
              <a:rPr lang="en-US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=&gt; </a:t>
            </a: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语义分割 / anomaly</a:t>
            </a:r>
            <a:endParaRPr lang="zh-CN" altLang="zh-CN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342900" indent="-34290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异常抖动 </a:t>
            </a:r>
            <a:r>
              <a:rPr lang="zh-CN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=&gt;  </a:t>
            </a:r>
            <a:r>
              <a:rPr lang="zh-CN" altLang="zh-CN" sz="20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视频时序</a:t>
            </a:r>
            <a:r>
              <a:rPr lang="zh-CN" altLang="zh-CN" sz="20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分析</a:t>
            </a:r>
            <a:endParaRPr lang="en-US" altLang="zh-CN" sz="2000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Anomalib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\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OpenCV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+ MediaPipe\ 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PaddleDetection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\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AdelaiDet</a:t>
            </a:r>
            <a:endParaRPr lang="en-US" altLang="zh-CN" sz="20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46863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FF0000"/>
                </a:solidFill>
                <a:latin typeface="等线" panose="02010600030101010101" charset="-122"/>
              </a:rPr>
              <a:t>目标</a:t>
            </a:r>
            <a:r>
              <a:rPr lang="zh-CN" altLang="zh-CN" b="1" dirty="0" smtClean="0">
                <a:solidFill>
                  <a:srgbClr val="FF0000"/>
                </a:solidFill>
                <a:latin typeface="等线" panose="02010600030101010101" charset="-122"/>
              </a:rPr>
              <a:t>：</a:t>
            </a:r>
            <a:r>
              <a:rPr lang="zh-CN" altLang="zh-CN" b="1" dirty="0" smtClean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至少要支持两路</a:t>
            </a:r>
            <a:r>
              <a:rPr lang="en-US" altLang="zh-CN" b="1" dirty="0" smtClean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RTSP</a:t>
            </a:r>
            <a:r>
              <a:rPr lang="zh-CN" altLang="zh-CN" b="1" dirty="0" smtClean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视频流、多个推理模型等。核心点</a:t>
            </a:r>
            <a:r>
              <a:rPr lang="zh-CN" altLang="en-US" b="1" dirty="0" smtClean="0">
                <a:solidFill>
                  <a:srgbClr val="FF0000"/>
                </a:solidFill>
                <a:latin typeface="等线" panose="02010600030101010101" charset="-122"/>
                <a:sym typeface="+mn-ea"/>
              </a:rPr>
              <a:t>必须引入分布式架构与流媒体调度策略等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任务一：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多协议流媒体接入与网关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0.5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协议：支持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RTSP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必须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）、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RTMP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（直播推流协议）、HTTP-FLV/HLS（海量 Web 预览）、GB/T 28181（政府、公安、电力等）、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ONVIF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等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协议。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ZLMediaKit 集成: 部署 ZLMediaKit 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作为流媒体核心，实现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多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路流的并发接收与负载均衡分发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。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按需拉流策略: 实现管理逻辑，只有在 Savant 节点有计算余力或前端有查看需求时，才从摄像头拉取高码率流，降低骨干网压力。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426656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任务二：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推理 Pipeline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分布式推理节点: 设计可横向扩展的 Savant Module。单个节点处理 30-50 路流，通过容器化部署</a:t>
            </a:r>
            <a:r>
              <a:rPr lang="zh-CN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实现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多</a:t>
            </a:r>
            <a:r>
              <a:rPr lang="zh-CN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路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的总吞吐。</a:t>
            </a:r>
            <a:endParaRPr lang="zh-CN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多模型级联 (Cascade):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（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级联过滤策略）</a:t>
            </a:r>
            <a:endParaRPr lang="zh-CN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1028700" lvl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一级模型：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实现行人/车辆/异物的高速检测</a:t>
            </a:r>
            <a:endParaRPr lang="zh-CN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1028700" lvl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二级模型：针对一级检测到的目标进行分类（安全帽识别、工服识别、车牌识别）。</a:t>
            </a:r>
            <a:endParaRPr lang="zh-CN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数据平滑与去重: Kafka 接收到的不应是每帧的数据，而应是“事件”。利用 Savant 的 Tracker（如 NvMultiObjectTracker）进行目标跟踪，只在目标进入/消失或属性变化时发送 Kafka 消息。</a:t>
            </a:r>
            <a:endParaRPr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460" y="1628775"/>
            <a:ext cx="8645525" cy="385127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任务三：结构化数据与可视化OSD（建议：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0.5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画框叠加 (OSD): Savant 处理后的视频需保留检测框，并推流回 ZLMediaKit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Kafka 集成: 将检测到的目标 ID、类别、置信度、坐标及时间戳封装为 JSON，实时发送至 Kafka 对应 Topic。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数据去重: 结合 Tracker（跟踪器）实现目标去重，确保一个目标进入画面只产生一条告警记录，而非每帧报错。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469011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任务四：前端监控监控系统（基于开源框架比如</a:t>
            </a:r>
            <a:r>
              <a:rPr lang="en-US" altLang="zh-CN" b="1" dirty="0" err="1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Vben Admin 5.0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/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ant design 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pro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等定制开发）（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低延迟预览: 基于 WebRTC 实现“处理后视频”的秒开预览，延迟需控制在 500ms 以内。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多路分屏: Web UI 需支持 1/4/9/16 路动态分屏显示。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实时仪表盘: 统计 Kafka 中的结构化数据，展示当前区域的人流密度、告警频率等热力图。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可扩展显示声纹、振动等信号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 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301244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任务五：Frigate 等第三方组件集成 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Frigate 联动: 利用 Frigate 的录像管理功能，接收 Savant 处理后的 RTSP 流，实现基于 AI 事件的视频 24 小时回溯与关键帧抓拍。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API 调度: 封装统一的 RESTful API，用于管理 300 路摄像头的开启、关闭及算法切换。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go2rtc 角色: Frigate 内部集成的 go2rtc 是处理 WebRTC 的利器。建议流程：Savant (RTSP Out) -&gt; ZLMediaKit -&gt; go2rtc -&gt; React Web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UI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46863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任务六：区域关联逻辑 (Multi-Region Logic)（建议：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动态 ROI 设置: 通过 Web 界面手动划定“禁区”，Savant 仅对禁区内目标发报警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双区进入告警 (A-B Tripwire)：例如，只有当目标先经过 A 区（预警区）再进入 B 区（核心禁区）时才触发报警，有效过滤掉路过的人员。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停留时长检测 (Loitering Detection)：在 ROI 内，如果同一个 Target ID 停留超过 N 秒，则触发“人员滞留”告警。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密度阈值控制：统计 ROI 内的目标数量，超过阈值（如电梯内超过 8 人）立即通过 Kafka 发送拥挤预警。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552069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任务七：动态推理频率策略 (Adaptive Inference)（建议：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抽帧策略动态下发：平时以 5fps 进行低频巡检，当检测到疑似目标时，自动将该路流的推理频率提升至 25fps（全帧率），以获取更精准的轨迹和抓拍。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静止过滤 (Motion Masking)：在 Savant 前端引入简单的运动检测，如果画面完全静止（如深夜的库房），自动暂停 DeepStream 推理，节省 GPU 算力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任务八：目标重识别与跨相机追踪 (Re-ID &amp; Cross-Camera Tracking)（建议：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跨镜头追踪：利用 Re-ID 模型提取特征向量（Feature Vector），在 Kafka 中对比不同摄像头的目标特征，实现人员在不同区域切换时的轨迹串联。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以图搜图接口：系统缓存最近 1 小时的目标特征，支持从 Web UI 上传一张抓拍图，反向搜索该目标在 300 路摄像头中出现的历史位置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426656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任务九：视频流质量诊断 (VQD - Video Quality Diagnosis)（建议：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自动诊断：通过 AI 逻辑判断摄像头是否发生：遮挡、移位、模糊、过暗、或信号丢失。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自愈机制：当检测到 RTSP 流断开或解码异常时，流媒体网关自动尝试重连，并在 Web UI 上显示“维护中”状态。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任务十：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运维与监控看板 (Observability)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（建议：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Grafana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（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+ Prometheus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</a:t>
            </a: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: 监控每路流的 FPS、延迟、GPU 利用率、显存占用。</a:t>
            </a:r>
            <a:endParaRPr lang="zh-CN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异常报警: 当某路 RTSP 断连或 Savant 进程崩溃时，通过 Webhook 发送通知</a:t>
            </a:r>
            <a:r>
              <a:rPr lang="zh-CN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。</a:t>
            </a:r>
            <a:endParaRPr lang="zh-CN" altLang="zh-CN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5080494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charset="0"/>
              <a:buChar char="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任务十一：隐私保护与合规化 (Privacy Masking)（建议：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实时人脸遮蔽：在推流给 Web 端预览时，由 Savant 实时对人脸或敏感区域进行马赛克处理，但在发送给 Kafka 的结构化数据中保留原始坐标。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权限分级预览：管理员可见全图，普通值班员仅能看到 AI 渲染后的带框视频。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任务十二：云边端协同管理 (Edge-Cloud Management)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（建议：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人）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模型热更新 (Hot-Swap)：无需重启容器，通过 API 发送指令让 Savant 切换加载不同的 .engine 模型文件（例如白天检测“违规堆料”，晚上切换为“烟火检测”）。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配置版本化：多路摄像头的 ROI 配置、告警阈值、算法参数全部存储在数据库中，支持一键下发到不同的计算节点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。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2227" name="Rectangle 2"/>
          <p:cNvSpPr/>
          <p:nvPr/>
        </p:nvSpPr>
        <p:spPr>
          <a:xfrm>
            <a:off x="251520" y="1628800"/>
            <a:ext cx="8768080" cy="3833999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任务十三：拓展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使用</a:t>
            </a:r>
            <a:r>
              <a:rPr lang="en-US" altLang="zh-CN" b="1" dirty="0" err="1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ZeroMQ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Kafka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作为传输层，解耦视频源（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Adapter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）、处理单元（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Pipeline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）和结果消费者（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Sink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）。这种异步消息传递模式允许各组件独立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扩展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285750" indent="-28575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在大规模分布式系统中，调试是极其困难的。通过</a:t>
            </a:r>
            <a:r>
              <a:rPr lang="en-US" altLang="zh-CN" b="1" dirty="0" err="1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OpenTelemetry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实现全链路追踪，可以清晰地看到一帧图像从进入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RTSP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适配器，经过</a:t>
            </a:r>
            <a:r>
              <a:rPr lang="en-US" altLang="zh-CN" b="1" dirty="0" err="1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DeepStream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推理，再到结果输出的完整耗时分布，这是定位瓶颈的关键理论实践</a:t>
            </a:r>
            <a:endParaRPr lang="en-US" altLang="zh-CN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          。。。。。。</a:t>
            </a:r>
            <a:endParaRPr lang="zh-CN" altLang="en-US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核心：多GPU节点、多Triton实例、Kafka分区、负载均衡等功能的实现机制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      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r>
              <a:rPr lang="en-US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 - </a:t>
            </a:r>
            <a:r>
              <a:rPr lang="zh-CN" altLang="en-US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提示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2348865"/>
            <a:ext cx="5956300" cy="21761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0" y="4869180"/>
            <a:ext cx="5753100" cy="866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4210" y="4077335"/>
            <a:ext cx="1630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highlight>
                  <a:srgbClr val="000000"/>
                </a:highlight>
              </a:rPr>
              <a:t>Grafana</a:t>
            </a:r>
            <a:endParaRPr lang="zh-CN" altLang="en-US" b="1">
              <a:highlight>
                <a:srgbClr val="000000"/>
              </a:highligh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2095" y="1700530"/>
            <a:ext cx="1867819" cy="5078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zh-CN" altLang="en-US" b="1" dirty="0" smtClean="0">
                <a:solidFill>
                  <a:schemeClr val="tx1"/>
                </a:solidFill>
                <a:sym typeface="+mn-ea"/>
              </a:rPr>
              <a:t>参考系统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架构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/>
          <p:nvPr/>
        </p:nvSpPr>
        <p:spPr>
          <a:xfrm>
            <a:off x="1692275" y="548640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r>
              <a:rPr lang="en-US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- </a:t>
            </a:r>
            <a:r>
              <a:rPr lang="zh-CN" altLang="en-US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提示</a:t>
            </a:r>
            <a:endParaRPr lang="zh-CN" altLang="en-US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988820"/>
            <a:ext cx="877887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zh-CN" altLang="en-US" b="1" dirty="0" smtClean="0">
                <a:solidFill>
                  <a:schemeClr val="tx1"/>
                </a:solidFill>
              </a:rPr>
              <a:t>参考</a:t>
            </a:r>
            <a:r>
              <a:rPr lang="en-US" altLang="zh-CN" b="1" dirty="0" smtClean="0">
                <a:solidFill>
                  <a:schemeClr val="tx1"/>
                </a:solidFill>
              </a:rPr>
              <a:t>UI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</a:rPr>
              <a:t>视频墙</a:t>
            </a:r>
            <a:r>
              <a:rPr lang="en-US" altLang="zh-CN" b="1" dirty="0">
                <a:solidFill>
                  <a:schemeClr val="tx1"/>
                </a:solidFill>
              </a:rPr>
              <a:t>: Shinobi/Frigate   </a:t>
            </a:r>
            <a:r>
              <a:rPr lang="en-US" altLang="zh-CN" b="1" dirty="0" err="1">
                <a:solidFill>
                  <a:schemeClr val="tx1"/>
                </a:solidFill>
              </a:rPr>
              <a:t>camera.ui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</a:rPr>
              <a:t>自研UI + 流媒体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</a:rPr>
              <a:t>React + Antd Pro 视频墙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>
                <a:solidFill>
                  <a:schemeClr val="tx1"/>
                </a:solidFill>
              </a:rPr>
              <a:t>......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850" y="3860800"/>
            <a:ext cx="852932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"/>
            </a:pP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/>
          <p:nvPr/>
        </p:nvSpPr>
        <p:spPr>
          <a:xfrm>
            <a:off x="1692275" y="548640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r>
              <a:rPr lang="en-US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- </a:t>
            </a:r>
            <a:r>
              <a:rPr lang="zh-CN" altLang="en-US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提示</a:t>
            </a:r>
            <a:endParaRPr lang="zh-CN" altLang="en-US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988820"/>
            <a:ext cx="87788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zh-CN" altLang="en-US" b="1">
                <a:solidFill>
                  <a:schemeClr val="tx1"/>
                </a:solidFill>
              </a:rPr>
              <a:t>支持针对不同视频流运行不同的模型轨迹</a:t>
            </a:r>
            <a:endParaRPr lang="zh-CN" altLang="en-US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>
                <a:solidFill>
                  <a:schemeClr val="tx1"/>
                </a:solidFill>
              </a:rPr>
              <a:t>条件分支路由 (Condition-based Routing)</a:t>
            </a:r>
            <a:endParaRPr lang="zh-CN" altLang="en-US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>
                <a:solidFill>
                  <a:schemeClr val="tx1"/>
                </a:solidFill>
              </a:rPr>
              <a:t>多推理模型并行 (Multi-Model Secondary Inference)</a:t>
            </a:r>
            <a:endParaRPr lang="zh-CN" altLang="en-US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>
                <a:solidFill>
                  <a:schemeClr val="tx1"/>
                </a:solidFill>
              </a:rPr>
              <a:t>分布式容器组 (Multi-Instance / Microservices)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850" y="3860800"/>
            <a:ext cx="8529320" cy="13388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  <a:sym typeface="+mn-ea"/>
              </a:rPr>
              <a:t>OSD</a:t>
            </a:r>
            <a:endParaRPr lang="zh-CN" altLang="en-US" b="1" dirty="0" smtClean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  <a:sym typeface="+mn-ea"/>
            </a:endParaRPr>
          </a:p>
          <a:p>
            <a:pPr marL="285750" indent="-285750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    </a:t>
            </a:r>
            <a:r>
              <a:rPr lang="zh-CN" altLang="en-US" b="1" dirty="0">
                <a:solidFill>
                  <a:schemeClr val="tx1"/>
                </a:solidFill>
              </a:rPr>
              <a:t>在 React UI 中，不直接显示 Savant 画好框的视频。而是拉取 MediaMTX 的原始流，然后通过 WebSocket 接收 Savant 的坐标数据，在前端用 Canvas 画</a:t>
            </a:r>
            <a:r>
              <a:rPr lang="zh-CN" altLang="en-US" b="1" dirty="0" smtClean="0">
                <a:solidFill>
                  <a:schemeClr val="tx1"/>
                </a:solidFill>
              </a:rPr>
              <a:t>框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6323" name="Rectangle 2"/>
          <p:cNvSpPr/>
          <p:nvPr/>
        </p:nvSpPr>
        <p:spPr>
          <a:xfrm>
            <a:off x="250825" y="1628775"/>
            <a:ext cx="8583613" cy="380873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FF0000"/>
                </a:solidFill>
                <a:latin typeface="等线" panose="02010600030101010101" charset="-122"/>
              </a:rPr>
              <a:t>评分依据 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charset="-122"/>
              </a:rPr>
              <a:t>–  </a:t>
            </a:r>
            <a:r>
              <a:rPr lang="zh-CN" altLang="zh-CN" sz="2000" b="1" dirty="0">
                <a:solidFill>
                  <a:srgbClr val="FF0000"/>
                </a:solidFill>
                <a:latin typeface="等线" panose="02010600030101010101" charset="-122"/>
              </a:rPr>
              <a:t>项目完成度：</a:t>
            </a:r>
            <a:endParaRPr lang="zh-CN" altLang="zh-CN" sz="2000" b="1" dirty="0">
              <a:solidFill>
                <a:srgbClr val="FF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1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、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基础</a:t>
            </a:r>
            <a:r>
              <a:rPr lang="zh-CN" altLang="zh-CN" sz="2000" b="1" dirty="0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功能</a:t>
            </a:r>
            <a:r>
              <a:rPr lang="zh-CN" altLang="en-US" sz="2000" b="1" dirty="0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（</a:t>
            </a:r>
            <a:r>
              <a:rPr lang="en-US" altLang="zh-CN" sz="2000" b="1" dirty="0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100p</a:t>
            </a:r>
            <a:r>
              <a:rPr lang="zh-CN" altLang="en-US" sz="2000" b="1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）</a:t>
            </a:r>
            <a:r>
              <a:rPr lang="zh-CN" altLang="zh-CN" sz="2000" b="1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（功能</a:t>
            </a:r>
            <a:r>
              <a:rPr lang="zh-CN" altLang="en-US" sz="2000" b="1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数量、</a:t>
            </a:r>
            <a:r>
              <a:rPr lang="zh-CN" altLang="zh-CN" sz="2000" b="1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功能</a:t>
            </a:r>
            <a:r>
              <a:rPr lang="zh-CN" altLang="en-US" sz="2000" b="1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质量（合理性）、</a:t>
            </a:r>
            <a:r>
              <a:rPr lang="en-US" altLang="zh-CN" sz="2000" b="1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UI</a:t>
            </a:r>
            <a:r>
              <a:rPr lang="zh-CN" altLang="en-US" sz="2000" b="1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美观、运行效果、架构设计</a:t>
            </a:r>
            <a:r>
              <a:rPr lang="zh-CN" altLang="en-US" sz="2000" b="1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合理性、分布特性的支持度。。。</a:t>
            </a:r>
            <a:r>
              <a:rPr lang="zh-CN" altLang="zh-CN" sz="2000" b="1" smtClean="0">
                <a:solidFill>
                  <a:srgbClr val="000000"/>
                </a:solidFill>
                <a:latin typeface="等线" panose="02010600030101010101" charset="-122"/>
                <a:sym typeface="+mn-ea"/>
              </a:rPr>
              <a:t>）</a:t>
            </a:r>
            <a:endParaRPr lang="zh-CN" altLang="zh-CN" sz="2000" b="1" dirty="0">
              <a:solidFill>
                <a:srgbClr val="00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2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、扩展</a:t>
            </a:r>
            <a:r>
              <a:rPr lang="zh-CN" altLang="zh-CN" sz="2000" b="1" dirty="0" smtClean="0">
                <a:solidFill>
                  <a:srgbClr val="000000"/>
                </a:solidFill>
                <a:latin typeface="等线" panose="02010600030101010101" charset="-122"/>
              </a:rPr>
              <a:t>功能（</a:t>
            </a:r>
            <a:r>
              <a:rPr lang="en-US" altLang="zh-CN" sz="2000" b="1" dirty="0" smtClean="0">
                <a:solidFill>
                  <a:srgbClr val="000000"/>
                </a:solidFill>
                <a:latin typeface="等线" panose="02010600030101010101" charset="-122"/>
              </a:rPr>
              <a:t>10P</a:t>
            </a:r>
            <a:r>
              <a:rPr lang="zh-CN" altLang="zh-CN" sz="2000" b="1" dirty="0" smtClean="0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zh-CN" altLang="zh-CN" sz="2000" b="1" dirty="0" smtClean="0">
              <a:solidFill>
                <a:srgbClr val="00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 smtClean="0">
                <a:solidFill>
                  <a:srgbClr val="FF0000"/>
                </a:solidFill>
                <a:latin typeface="等线" panose="02010600030101010101" charset="-122"/>
              </a:rPr>
              <a:t>评分依据 </a:t>
            </a:r>
            <a:r>
              <a:rPr lang="en-US" altLang="zh-CN" sz="2000" b="1" dirty="0" smtClean="0">
                <a:solidFill>
                  <a:srgbClr val="FF0000"/>
                </a:solidFill>
                <a:latin typeface="等线" panose="02010600030101010101" charset="-122"/>
              </a:rPr>
              <a:t>– </a:t>
            </a:r>
            <a:r>
              <a:rPr lang="zh-CN" altLang="zh-CN" sz="2000" b="1" dirty="0" smtClean="0">
                <a:solidFill>
                  <a:srgbClr val="FF0000"/>
                </a:solidFill>
                <a:latin typeface="等线" panose="02010600030101010101" charset="-122"/>
              </a:rPr>
              <a:t>演示与答辩（</a:t>
            </a:r>
            <a:r>
              <a:rPr lang="en-US" altLang="zh-CN" sz="2000" b="1" dirty="0" smtClean="0">
                <a:solidFill>
                  <a:srgbClr val="FF0000"/>
                </a:solidFill>
                <a:latin typeface="等线" panose="02010600030101010101" charset="-122"/>
              </a:rPr>
              <a:t>PPT</a:t>
            </a:r>
            <a:r>
              <a:rPr lang="zh-CN" altLang="zh-CN" sz="2000" b="1" dirty="0" smtClean="0">
                <a:solidFill>
                  <a:srgbClr val="FF0000"/>
                </a:solidFill>
                <a:latin typeface="等线" panose="02010600030101010101" charset="-122"/>
              </a:rPr>
              <a:t>）：</a:t>
            </a:r>
            <a:endParaRPr lang="zh-CN" altLang="zh-CN" sz="2000" b="1" dirty="0" smtClean="0">
              <a:solidFill>
                <a:srgbClr val="FF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 smtClean="0">
                <a:solidFill>
                  <a:srgbClr val="000000"/>
                </a:solidFill>
                <a:latin typeface="等线" panose="02010600030101010101" charset="-122"/>
              </a:rPr>
              <a:t>系统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能运行（</a:t>
            </a:r>
            <a:r>
              <a:rPr lang="en-US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60P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zh-CN" altLang="zh-CN" sz="2000" b="1" dirty="0">
              <a:solidFill>
                <a:srgbClr val="00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扩展功能能演示（</a:t>
            </a:r>
            <a:r>
              <a:rPr lang="en-US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20P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zh-CN" altLang="zh-CN" sz="2000" b="1" dirty="0">
              <a:solidFill>
                <a:srgbClr val="00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能正确回答问题或讲解代码的具体实现细节（</a:t>
            </a:r>
            <a:r>
              <a:rPr lang="en-US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20P</a:t>
            </a:r>
            <a:r>
              <a:rPr lang="zh-CN" altLang="zh-CN" sz="2000" b="1" dirty="0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zh-CN" altLang="zh-CN" sz="2000" b="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/>
          <p:nvPr/>
        </p:nvSpPr>
        <p:spPr>
          <a:xfrm>
            <a:off x="1692275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课程作业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58371" name="Rectangle 2"/>
          <p:cNvSpPr/>
          <p:nvPr/>
        </p:nvSpPr>
        <p:spPr>
          <a:xfrm>
            <a:off x="280035" y="1484630"/>
            <a:ext cx="8583613" cy="47402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000" b="1" dirty="0">
                <a:solidFill>
                  <a:srgbClr val="FF0000"/>
                </a:solidFill>
                <a:latin typeface="等线" panose="02010600030101010101" charset="-122"/>
              </a:rPr>
              <a:t>课程报告大纲：</a:t>
            </a:r>
            <a:endParaRPr lang="zh-CN" altLang="zh-CN" sz="2000" b="1" dirty="0">
              <a:solidFill>
                <a:srgbClr val="FF0000"/>
              </a:solidFill>
              <a:latin typeface="等线" panose="02010600030101010101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系统目标（组长）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系统总体架构</a:t>
            </a: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（组长）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系统技术架构</a:t>
            </a: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（组长）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任务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1-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任务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12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（需注明个人名字）</a:t>
            </a: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b="1" dirty="0" err="1">
                <a:solidFill>
                  <a:srgbClr val="000000"/>
                </a:solidFill>
                <a:sym typeface="+mn-ea"/>
              </a:rPr>
              <a:t>（</a:t>
            </a:r>
            <a:r>
              <a:rPr lang="en-US" altLang="zh-CN" sz="1800" b="1" dirty="0" err="1">
                <a:solidFill>
                  <a:srgbClr val="000000"/>
                </a:solidFill>
                <a:sym typeface="+mn-ea"/>
              </a:rPr>
              <a:t>理论调研</a:t>
            </a:r>
            <a:r>
              <a:rPr lang="zh-CN" altLang="en-US" sz="1800" b="1" dirty="0" smtClean="0">
                <a:solidFill>
                  <a:srgbClr val="000000"/>
                </a:solidFill>
                <a:sym typeface="+mn-ea"/>
              </a:rPr>
              <a:t>、所用架构、环境搭建、实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操验证（配置文件（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参数含义及设置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）、业务代码、</a:t>
            </a:r>
            <a:r>
              <a:rPr lang="zh-CN" altLang="en-US" sz="1800" b="1" dirty="0" smtClean="0">
                <a:solidFill>
                  <a:srgbClr val="000000"/>
                </a:solidFill>
                <a:sym typeface="+mn-ea"/>
              </a:rPr>
              <a:t>测试脚本、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测试结果</a:t>
            </a:r>
            <a:r>
              <a:rPr lang="zh-CN" altLang="zh-CN" sz="1800" b="1" dirty="0">
                <a:solidFill>
                  <a:srgbClr val="000000"/>
                </a:solidFill>
                <a:sym typeface="+mn-ea"/>
              </a:rPr>
              <a:t>截图等）、所用主要组件及关系、主要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API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介绍、业务执行流程。。。）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5. </a:t>
            </a:r>
            <a:r>
              <a:rPr lang="zh-CN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遇到问题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其中：报告规范（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10P</a:t>
            </a:r>
            <a:r>
              <a:rPr lang="zh-CN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）</a:t>
            </a:r>
            <a:endParaRPr lang="zh-CN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Verdana" panose="020B0604030504040204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"/>
          <p:cNvSpPr txBox="1"/>
          <p:nvPr/>
        </p:nvSpPr>
        <p:spPr>
          <a:xfrm>
            <a:off x="1979613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作业说明（</a:t>
            </a:r>
            <a:r>
              <a:rPr lang="en-US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1</a:t>
            </a: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60419" name="Rectangle 2"/>
          <p:cNvSpPr/>
          <p:nvPr/>
        </p:nvSpPr>
        <p:spPr>
          <a:xfrm>
            <a:off x="250825" y="2060575"/>
            <a:ext cx="8605838" cy="3972499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marL="514350" indent="-514350"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arenBoth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4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独立或若干人合作完成（分组同</a:t>
            </a:r>
            <a:r>
              <a:rPr lang="zh-CN" altLang="zh-CN" sz="24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并行计算</a:t>
            </a:r>
            <a:r>
              <a:rPr lang="zh-CN" altLang="en-US" sz="24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。组长负责整合整个系统代码与文档</a:t>
            </a:r>
            <a:r>
              <a:rPr lang="zh-CN" altLang="zh-CN" sz="24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</a:t>
            </a:r>
            <a:endParaRPr lang="zh-CN" altLang="zh-CN" sz="24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514350" indent="-514350"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arenBoth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4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同一任务的人数不能超过建议人数</a:t>
            </a:r>
            <a:endParaRPr lang="zh-CN" altLang="zh-CN" sz="24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514350" indent="-514350"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arenBoth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400" b="1" dirty="0" smtClean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提交</a:t>
            </a:r>
            <a:r>
              <a:rPr lang="zh-CN" altLang="zh-CN" sz="24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材料：课程报告、含有源代码的整个工程文件、重现演示系统所用库或组件的版本以及操作流程，数据集等</a:t>
            </a:r>
            <a:endParaRPr lang="zh-CN" altLang="zh-CN" sz="24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marL="514350" indent="-514350"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Times New Roman" panose="02020603050405020304" pitchFamily="16" charset="0"/>
              <a:buAutoNum type="arabicParenBoth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4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课程报告正文需说明每位同学的具体贡献（无说明：按照报告封面中小组成员名字出现的先后次序认定个人贡献）</a:t>
            </a:r>
            <a:endParaRPr lang="zh-CN" altLang="zh-CN" sz="24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/>
          <p:nvPr/>
        </p:nvSpPr>
        <p:spPr>
          <a:xfrm>
            <a:off x="1979613" y="549275"/>
            <a:ext cx="5473700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作业说明（</a:t>
            </a:r>
            <a:r>
              <a:rPr lang="en-US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2</a:t>
            </a: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62467" name="Rectangle 2"/>
          <p:cNvSpPr/>
          <p:nvPr/>
        </p:nvSpPr>
        <p:spPr>
          <a:xfrm>
            <a:off x="287338" y="1773238"/>
            <a:ext cx="8748712" cy="26558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其他说明：</a:t>
            </a:r>
            <a:endParaRPr lang="zh-CN" altLang="zh-CN" sz="28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）所有文档必须是</a:t>
            </a: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Word</a:t>
            </a: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格式</a:t>
            </a:r>
            <a:endParaRPr lang="zh-CN" altLang="zh-CN" sz="28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  <a:p>
            <a:pPr defTabSz="449580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  (2)</a:t>
            </a: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文档规范：</a:t>
            </a: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A4</a:t>
            </a:r>
            <a:r>
              <a:rPr lang="zh-CN" altLang="zh-CN" sz="2800" b="1" dirty="0">
                <a:solidFill>
                  <a:srgbClr val="000000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、五号宋体、行间距单倍等、无拷贝粘贴内容和图片。</a:t>
            </a:r>
            <a:endParaRPr lang="zh-CN" altLang="zh-CN" sz="2800" b="1" dirty="0">
              <a:solidFill>
                <a:srgbClr val="000000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/>
          <p:nvPr/>
        </p:nvSpPr>
        <p:spPr>
          <a:xfrm>
            <a:off x="1763713" y="549275"/>
            <a:ext cx="5400675" cy="650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742950" indent="-742950" algn="ctr" defTabSz="449580" eaLnBrk="1" hangingPunct="1">
              <a:spcBef>
                <a:spcPts val="15"/>
              </a:spcBef>
              <a:spcAft>
                <a:spcPts val="15"/>
              </a:spcAft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3600" b="1" dirty="0">
                <a:solidFill>
                  <a:srgbClr val="FFFFFF"/>
                </a:solidFill>
                <a:latin typeface="Verdana" panose="020B0604030504040204" pitchFamily="32" charset="0"/>
                <a:ea typeface="微软雅黑" panose="020B0503020204020204" pitchFamily="32" charset="-122"/>
              </a:rPr>
              <a:t>其他需要注意的事项</a:t>
            </a:r>
            <a:endParaRPr lang="zh-CN" altLang="zh-CN" sz="3600" b="1" dirty="0">
              <a:solidFill>
                <a:srgbClr val="FFFFFF"/>
              </a:solidFill>
              <a:latin typeface="Verdana" panose="020B0604030504040204" pitchFamily="32" charset="0"/>
              <a:ea typeface="微软雅黑" panose="020B0503020204020204" pitchFamily="32" charset="-122"/>
            </a:endParaRPr>
          </a:p>
        </p:txBody>
      </p:sp>
      <p:sp>
        <p:nvSpPr>
          <p:cNvPr id="64515" name="Rectangle 2"/>
          <p:cNvSpPr/>
          <p:nvPr/>
        </p:nvSpPr>
        <p:spPr>
          <a:xfrm>
            <a:off x="323850" y="1628775"/>
            <a:ext cx="8569325" cy="39370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algn="just" defTabSz="449580" eaLnBrk="1" hangingPunct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小组打包命名格式：组号</a:t>
            </a:r>
            <a:r>
              <a:rPr lang="en-US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.zip</a:t>
            </a:r>
            <a:endParaRPr lang="en-US" altLang="zh-CN" sz="2800" b="1" dirty="0">
              <a:solidFill>
                <a:srgbClr val="000000"/>
              </a:solidFill>
              <a:latin typeface="隶书" panose="02010509060101010101" pitchFamily="49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作业需提交到课程教学平台  同时发送到：</a:t>
            </a:r>
            <a:endParaRPr lang="zh-CN" altLang="zh-CN" sz="2800" b="1" dirty="0">
              <a:solidFill>
                <a:srgbClr val="000000"/>
              </a:solidFill>
              <a:latin typeface="隶书" panose="02010509060101010101" pitchFamily="49" charset="-122"/>
            </a:endParaRPr>
          </a:p>
          <a:p>
            <a:pPr algn="just" defTabSz="449580" eaLnBrk="1" hangingPunct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隶书" panose="02010509060101010101" pitchFamily="49" charset="-122"/>
              </a:rPr>
              <a:t>   bmxu@bjtu.edu.cn 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zh-CN" altLang="zh-CN" sz="2800" b="1" dirty="0">
                <a:solidFill>
                  <a:srgbClr val="FF0000"/>
                </a:solidFill>
                <a:latin typeface="隶书" panose="02010509060101010101" pitchFamily="49" charset="-122"/>
              </a:rPr>
              <a:t>提交后两天内没有收到回复，需重新发送</a:t>
            </a: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【</a:t>
            </a: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由组长发送</a:t>
            </a:r>
            <a:r>
              <a:rPr lang="en-US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】</a:t>
            </a:r>
            <a:endParaRPr lang="en-US" altLang="zh-CN" sz="2800" b="1" dirty="0">
              <a:solidFill>
                <a:srgbClr val="000000"/>
              </a:solidFill>
              <a:latin typeface="隶书" panose="02010509060101010101" pitchFamily="49" charset="-122"/>
            </a:endParaRPr>
          </a:p>
          <a:p>
            <a:pPr algn="just" defTabSz="449580" eaLnBrk="1" hangingPunct="1">
              <a:lnSpc>
                <a:spcPct val="150000"/>
              </a:lnSpc>
              <a:spcBef>
                <a:spcPts val="15"/>
              </a:spcBef>
              <a:spcAft>
                <a:spcPts val="15"/>
              </a:spcAft>
              <a:buFont typeface="Wingdings" panose="05000000000000000000" pitchFamily="2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最终提交日期是：课程结束周的周日晚</a:t>
            </a:r>
            <a:r>
              <a:rPr lang="en-US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12</a:t>
            </a:r>
            <a:r>
              <a:rPr lang="zh-CN" altLang="zh-CN" sz="2800" b="1" dirty="0">
                <a:solidFill>
                  <a:srgbClr val="000000"/>
                </a:solidFill>
                <a:latin typeface="隶书" panose="02010509060101010101" pitchFamily="49" charset="-122"/>
              </a:rPr>
              <a:t>点之前，逾期不再回复。</a:t>
            </a:r>
            <a:endParaRPr lang="zh-CN" altLang="zh-CN" sz="2800" b="1" dirty="0">
              <a:solidFill>
                <a:srgbClr val="000000"/>
              </a:solidFill>
              <a:latin typeface="隶书" panose="020105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4133</Words>
  <Application>WPS 演示</Application>
  <PresentationFormat>全屏显示(4:3)</PresentationFormat>
  <Paragraphs>174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19</vt:i4>
      </vt:variant>
    </vt:vector>
  </HeadingPairs>
  <TitlesOfParts>
    <vt:vector size="61" baseType="lpstr">
      <vt:lpstr>Arial</vt:lpstr>
      <vt:lpstr>宋体</vt:lpstr>
      <vt:lpstr>Wingdings</vt:lpstr>
      <vt:lpstr>Times New Roman</vt:lpstr>
      <vt:lpstr>Noto Serif CJK SC</vt:lpstr>
      <vt:lpstr>Verdana</vt:lpstr>
      <vt:lpstr>微软雅黑</vt:lpstr>
      <vt:lpstr>Neo Sans Intel</vt:lpstr>
      <vt:lpstr>C059</vt:lpstr>
      <vt:lpstr>Neo Sans Intel Medium</vt:lpstr>
      <vt:lpstr>Wingdings</vt:lpstr>
      <vt:lpstr>等线</vt:lpstr>
      <vt:lpstr>Arial Unicode MS</vt:lpstr>
      <vt:lpstr>隶书</vt:lpstr>
      <vt:lpstr>FreeMono</vt:lpstr>
      <vt:lpstr>Noto Color Emoji</vt:lpstr>
      <vt:lpstr>文泉驿正黑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 baomin</dc:creator>
  <cp:lastModifiedBy>bjtu</cp:lastModifiedBy>
  <cp:revision>29</cp:revision>
  <dcterms:created xsi:type="dcterms:W3CDTF">2026-04-08T07:27:39Z</dcterms:created>
  <dcterms:modified xsi:type="dcterms:W3CDTF">2026-04-08T07:27:39Z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2052-12.1.2.25838</vt:lpwstr>
  </property>
</Properties>
</file>